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5" r:id="rId5"/>
    <p:sldMasterId id="2147483676" r:id="rId6"/>
    <p:sldMasterId id="214748368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y="6858000" cx="9144000"/>
  <p:notesSz cx="6934200" cy="9283700"/>
  <p:embeddedFontLst>
    <p:embeddedFont>
      <p:font typeface="Book Antiqua"/>
      <p:regular r:id="rId22"/>
      <p:bold r:id="rId23"/>
      <p:italic r:id="rId24"/>
      <p:boldItalic r:id="rId25"/>
    </p:embeddedFont>
    <p:embeddedFont>
      <p:font typeface="Libre Franklin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92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  <p:ext uri="GoogleSlidesCustomDataVersion2">
      <go:slidesCustomData xmlns:go="http://customooxmlschemas.google.com/" r:id="rId30" roundtripDataSignature="AMtx7mjBY+Z75m4cPp9lP8H1pXG2oTly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BookAntiqua-regular.fntdata"/><Relationship Id="rId21" Type="http://schemas.openxmlformats.org/officeDocument/2006/relationships/slide" Target="slides/slide13.xml"/><Relationship Id="rId24" Type="http://schemas.openxmlformats.org/officeDocument/2006/relationships/font" Target="fonts/BookAntiqua-italic.fntdata"/><Relationship Id="rId23" Type="http://schemas.openxmlformats.org/officeDocument/2006/relationships/font" Target="fonts/BookAntiqu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LibreFranklinMedium-regular.fntdata"/><Relationship Id="rId25" Type="http://schemas.openxmlformats.org/officeDocument/2006/relationships/font" Target="fonts/BookAntiqua-boldItalic.fntdata"/><Relationship Id="rId28" Type="http://schemas.openxmlformats.org/officeDocument/2006/relationships/font" Target="fonts/LibreFranklinMedium-italic.fntdata"/><Relationship Id="rId27" Type="http://schemas.openxmlformats.org/officeDocument/2006/relationships/font" Target="fonts/LibreFranklinMedium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LibreFranklinMedium-boldItalic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0" Type="http://customschemas.google.com/relationships/presentationmetadata" Target="meta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/>
          <p:nvPr>
            <p:ph idx="3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325" lIns="92650" spcFirstLastPara="1" rIns="92650" wrap="square" tIns="46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1–</a:t>
            </a:r>
            <a:fld id="{00000000-1234-1234-1234-123412341234}" type="slidenum"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:notes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Resources Management 12e</a:t>
            </a:r>
            <a:br>
              <a:rPr lang="en-US"/>
            </a:br>
            <a:r>
              <a:rPr lang="en-US"/>
              <a:t>Gary Dessler</a:t>
            </a:r>
            <a:endParaRPr/>
          </a:p>
        </p:txBody>
      </p:sp>
      <p:sp>
        <p:nvSpPr>
          <p:cNvPr id="352" name="Google Shape;352;p1:notes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 b="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1:notes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:notes"/>
          <p:cNvSpPr/>
          <p:nvPr>
            <p:ph idx="3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5" name="Google Shape;355;p1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:notes"/>
          <p:cNvSpPr/>
          <p:nvPr>
            <p:ph idx="2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:notes"/>
          <p:cNvSpPr/>
          <p:nvPr>
            <p:ph idx="2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:notes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Resources Management 12e</a:t>
            </a:r>
            <a:br>
              <a:rPr lang="en-US"/>
            </a:br>
            <a:r>
              <a:rPr lang="en-US"/>
              <a:t>Gary Dessler</a:t>
            </a:r>
            <a:endParaRPr/>
          </a:p>
        </p:txBody>
      </p:sp>
      <p:sp>
        <p:nvSpPr>
          <p:cNvPr id="390" name="Google Shape;390;p4:notes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 b="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:notes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4:notes"/>
          <p:cNvSpPr/>
          <p:nvPr>
            <p:ph idx="3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4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 management is the process of acquiring, training, appraising, and compensating employees, and of attending to their labor relations, health and safety, and fairness concerns.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:notes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Resources Management 12e</a:t>
            </a:r>
            <a:br>
              <a:rPr lang="en-US"/>
            </a:br>
            <a:r>
              <a:rPr lang="en-US"/>
              <a:t>Gary Dessler</a:t>
            </a:r>
            <a:endParaRPr/>
          </a:p>
        </p:txBody>
      </p:sp>
      <p:sp>
        <p:nvSpPr>
          <p:cNvPr id="400" name="Google Shape;400;p5:notes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 b="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5:notes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5:notes"/>
          <p:cNvSpPr/>
          <p:nvPr>
            <p:ph idx="3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3" name="Google Shape;403;p5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HRM involves several processes. The topics we’ll discuss will provide you with concepts and techniques needed to perform the “people” or personnel aspects of your job as a manager.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6:notes"/>
          <p:cNvSpPr/>
          <p:nvPr>
            <p:ph idx="2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7:notes"/>
          <p:cNvSpPr/>
          <p:nvPr>
            <p:ph idx="2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:notes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Resources Management 12e</a:t>
            </a:r>
            <a:br>
              <a:rPr lang="en-US"/>
            </a:br>
            <a:r>
              <a:rPr lang="en-US"/>
              <a:t>Gary Dessler</a:t>
            </a:r>
            <a:endParaRPr/>
          </a:p>
        </p:txBody>
      </p:sp>
      <p:sp>
        <p:nvSpPr>
          <p:cNvPr id="439" name="Google Shape;439;p8:notes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 b="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8:notes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1" name="Google Shape;441;p8:notes"/>
          <p:cNvSpPr/>
          <p:nvPr>
            <p:ph idx="3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8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Hiring the right people for the right jobs and motivating, appraising, and developing them will likely get the results you are seeking. Remember that success comes through people.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:notes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Resources Management 12e</a:t>
            </a:r>
            <a:br>
              <a:rPr lang="en-US"/>
            </a:br>
            <a:r>
              <a:rPr lang="en-US"/>
              <a:t>Gary Dessler</a:t>
            </a:r>
            <a:endParaRPr/>
          </a:p>
        </p:txBody>
      </p:sp>
      <p:sp>
        <p:nvSpPr>
          <p:cNvPr id="450" name="Google Shape;450;p9:notes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 b="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9:notes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2" name="Google Shape;452;p9:notes"/>
          <p:cNvSpPr/>
          <p:nvPr>
            <p:ph idx="3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9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231775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 managers manage operational functions that are crucial for the company’s survival. Staff managers run departments that are advisory or supportive, like purchasing, HRM, and quality control.</a:t>
            </a:r>
            <a:endParaRPr/>
          </a:p>
          <a:p>
            <a:pPr indent="231775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Human resource managers are usually staff managers. They assist and advise line managers with recruiting, hiring, and compensation. However, line managers still have human resource duties.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:notes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Resources Management 12e</a:t>
            </a:r>
            <a:br>
              <a:rPr lang="en-US"/>
            </a:br>
            <a:r>
              <a:rPr lang="en-US"/>
              <a:t>Gary Dessler</a:t>
            </a:r>
            <a:endParaRPr/>
          </a:p>
        </p:txBody>
      </p:sp>
      <p:sp>
        <p:nvSpPr>
          <p:cNvPr id="461" name="Google Shape;461;p10:notes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 b="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10:notes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10:notes"/>
          <p:cNvSpPr/>
          <p:nvPr>
            <p:ph idx="3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10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small organizations, line managers carry out many personnel duties unassisted. As the organization grows, the need arises for the specialized assistance, knowledge, and advice of a human resource department.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1:notes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Resources Management 12e</a:t>
            </a:r>
            <a:br>
              <a:rPr lang="en-US"/>
            </a:br>
            <a:r>
              <a:rPr lang="en-US"/>
              <a:t>Gary Dessler</a:t>
            </a:r>
            <a:endParaRPr/>
          </a:p>
        </p:txBody>
      </p:sp>
      <p:sp>
        <p:nvSpPr>
          <p:cNvPr id="471" name="Google Shape;471;p11:notes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 b="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11:notes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3" name="Google Shape;473;p11:notes"/>
          <p:cNvSpPr/>
          <p:nvPr>
            <p:ph idx="3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4" name="Google Shape;474;p11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231775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HR manager directs the activities of the people in the HR department, coordinates organizational-wide personnel activities and provides HRM assistance and advice to line managers.</a:t>
            </a:r>
            <a:endParaRPr/>
          </a:p>
          <a:p>
            <a:pPr indent="231775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</p:spPr>
        <p:txBody>
          <a:bodyPr anchorCtr="0" anchor="t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:notes"/>
          <p:cNvSpPr/>
          <p:nvPr>
            <p:ph idx="2" type="sldImg"/>
          </p:nvPr>
        </p:nvSpPr>
        <p:spPr>
          <a:xfrm>
            <a:off x="114617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 txBox="1"/>
          <p:nvPr>
            <p:ph idx="2" type="hdr"/>
          </p:nvPr>
        </p:nvSpPr>
        <p:spPr>
          <a:xfrm>
            <a:off x="174625" y="63500"/>
            <a:ext cx="6584950" cy="4635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325" lIns="92650" spcFirstLastPara="1" rIns="92650" wrap="square" tIns="4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Resources Management 12e</a:t>
            </a:r>
            <a:br>
              <a:rPr lang="en-US"/>
            </a:br>
            <a:r>
              <a:rPr lang="en-US"/>
              <a:t>Gary Dessler</a:t>
            </a:r>
            <a:endParaRPr/>
          </a:p>
        </p:txBody>
      </p:sp>
      <p:sp>
        <p:nvSpPr>
          <p:cNvPr id="495" name="Google Shape;495;p13:notes"/>
          <p:cNvSpPr txBox="1"/>
          <p:nvPr>
            <p:ph idx="11" type="ftr"/>
          </p:nvPr>
        </p:nvSpPr>
        <p:spPr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 b="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13:notes"/>
          <p:cNvSpPr txBox="1"/>
          <p:nvPr>
            <p:ph idx="12" type="sldNum"/>
          </p:nvPr>
        </p:nvSpPr>
        <p:spPr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325" lIns="92650" spcFirstLastPara="1" rIns="92650" wrap="square" tIns="46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13:notes"/>
          <p:cNvSpPr/>
          <p:nvPr>
            <p:ph idx="3" type="sldImg"/>
          </p:nvPr>
        </p:nvSpPr>
        <p:spPr>
          <a:xfrm>
            <a:off x="1154113" y="703263"/>
            <a:ext cx="4625975" cy="3468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13:notes"/>
          <p:cNvSpPr txBox="1"/>
          <p:nvPr>
            <p:ph idx="1" type="body"/>
          </p:nvPr>
        </p:nvSpPr>
        <p:spPr>
          <a:xfrm>
            <a:off x="923925" y="4410075"/>
            <a:ext cx="5086350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700" spcFirstLastPara="1" rIns="91700" wrap="square" tIns="45025">
            <a:noAutofit/>
          </a:bodyPr>
          <a:lstStyle/>
          <a:p>
            <a:pPr indent="231775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Technology has also had a huge impact on how people work, and on the skills and training today’s workers need. Jobs are becoming more high tech, less-labor intensive, and require more knowledge and higher skill levels (human capital).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18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42" name="Google Shape;42;p18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" name="Google Shape;43;p18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" name="Google Shape;44;p18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18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18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18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48" name="Google Shape;48;p18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18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8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8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</p:sp>
      </p:grpSp>
      <p:sp>
        <p:nvSpPr>
          <p:cNvPr id="52" name="Google Shape;52;p18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/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" type="body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66" name="Google Shape;66;p20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67" name="Google Shape;67;p2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3" name="Google Shape;73;p21"/>
          <p:cNvSpPr txBox="1"/>
          <p:nvPr>
            <p:ph idx="2" type="body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3" type="body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5" name="Google Shape;75;p21"/>
          <p:cNvSpPr txBox="1"/>
          <p:nvPr>
            <p:ph idx="4" type="body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2" type="body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/>
          <p:nvPr>
            <p:ph idx="2" type="pic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" type="body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2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2" type="body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2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5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7" name="Google Shape;107;p25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2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27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2" name="Google Shape;122;p27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2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1" type="body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 rot="5400000">
            <a:off x="3840993" y="2745920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 rot="5400000">
            <a:off x="581386" y="637813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type="title"/>
          </p:nvPr>
        </p:nvSpPr>
        <p:spPr>
          <a:xfrm>
            <a:off x="365125" y="366713"/>
            <a:ext cx="8413750" cy="625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" type="body"/>
          </p:nvPr>
        </p:nvSpPr>
        <p:spPr>
          <a:xfrm>
            <a:off x="525463" y="1050925"/>
            <a:ext cx="81026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⮚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❖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55" name="Google Shape;155;p33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3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type="title"/>
          </p:nvPr>
        </p:nvSpPr>
        <p:spPr>
          <a:xfrm>
            <a:off x="365125" y="366713"/>
            <a:ext cx="8413750" cy="625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" type="body"/>
          </p:nvPr>
        </p:nvSpPr>
        <p:spPr>
          <a:xfrm>
            <a:off x="525463" y="1050925"/>
            <a:ext cx="39751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⮚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SzPts val="1500"/>
              <a:buChar char="❖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9pPr>
          </a:lstStyle>
          <a:p/>
        </p:txBody>
      </p:sp>
      <p:sp>
        <p:nvSpPr>
          <p:cNvPr id="160" name="Google Shape;160;p34"/>
          <p:cNvSpPr txBox="1"/>
          <p:nvPr>
            <p:ph idx="2" type="body"/>
          </p:nvPr>
        </p:nvSpPr>
        <p:spPr>
          <a:xfrm>
            <a:off x="4652963" y="1050925"/>
            <a:ext cx="39751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⮚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SzPts val="1500"/>
              <a:buChar char="❖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9pPr>
          </a:lstStyle>
          <a:p/>
        </p:txBody>
      </p:sp>
      <p:sp>
        <p:nvSpPr>
          <p:cNvPr id="161" name="Google Shape;161;p34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4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66" name="Google Shape;166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⮚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❖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9pPr>
          </a:lstStyle>
          <a:p/>
        </p:txBody>
      </p:sp>
      <p:sp>
        <p:nvSpPr>
          <p:cNvPr id="167" name="Google Shape;167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68" name="Google Shape;168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⮚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❖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9pPr>
          </a:lstStyle>
          <a:p/>
        </p:txBody>
      </p:sp>
      <p:sp>
        <p:nvSpPr>
          <p:cNvPr id="169" name="Google Shape;169;p35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5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>
            <p:ph type="title"/>
          </p:nvPr>
        </p:nvSpPr>
        <p:spPr>
          <a:xfrm>
            <a:off x="365125" y="366713"/>
            <a:ext cx="8413750" cy="625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6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6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7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7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⮚"/>
              <a:defRPr sz="2800"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SzPts val="1800"/>
              <a:buChar char="❖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9pPr>
          </a:lstStyle>
          <a:p/>
        </p:txBody>
      </p:sp>
      <p:sp>
        <p:nvSpPr>
          <p:cNvPr id="181" name="Google Shape;181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82" name="Google Shape;182;p38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8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88" name="Google Shape;188;p39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9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0"/>
          <p:cNvSpPr txBox="1"/>
          <p:nvPr>
            <p:ph type="title"/>
          </p:nvPr>
        </p:nvSpPr>
        <p:spPr>
          <a:xfrm>
            <a:off x="365125" y="366713"/>
            <a:ext cx="8413750" cy="625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0"/>
          <p:cNvSpPr txBox="1"/>
          <p:nvPr>
            <p:ph idx="1" type="body"/>
          </p:nvPr>
        </p:nvSpPr>
        <p:spPr>
          <a:xfrm rot="5400000">
            <a:off x="1970882" y="-394493"/>
            <a:ext cx="5211763" cy="81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⮚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❖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40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0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1"/>
          <p:cNvSpPr txBox="1"/>
          <p:nvPr>
            <p:ph type="title"/>
          </p:nvPr>
        </p:nvSpPr>
        <p:spPr>
          <a:xfrm rot="5400000">
            <a:off x="4779169" y="2262982"/>
            <a:ext cx="5895975" cy="21034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1"/>
          <p:cNvSpPr txBox="1"/>
          <p:nvPr>
            <p:ph idx="1" type="body"/>
          </p:nvPr>
        </p:nvSpPr>
        <p:spPr>
          <a:xfrm rot="5400000">
            <a:off x="496094" y="235744"/>
            <a:ext cx="5895975" cy="615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⮚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❖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41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1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4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4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5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45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46"/>
          <p:cNvSpPr txBox="1"/>
          <p:nvPr>
            <p:ph idx="1" type="body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46"/>
          <p:cNvSpPr txBox="1"/>
          <p:nvPr>
            <p:ph idx="2" type="body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47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4" name="Google Shape;234;p47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5" name="Google Shape;235;p47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47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2" name="Google Shape;242;p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5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5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5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5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5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51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51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0" name="Google Shape;260;p5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5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5" name="Google Shape;265;p52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6" name="Google Shape;266;p5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5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53"/>
          <p:cNvSpPr txBox="1"/>
          <p:nvPr>
            <p:ph idx="1" type="body"/>
          </p:nvPr>
        </p:nvSpPr>
        <p:spPr>
          <a:xfrm rot="5400000">
            <a:off x="604044" y="389731"/>
            <a:ext cx="5811838" cy="576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5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5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5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/>
          <p:nvPr>
            <p:ph type="ctrTitle"/>
          </p:nvPr>
        </p:nvSpPr>
        <p:spPr>
          <a:xfrm>
            <a:off x="1143000" y="1124530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5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284" name="Google Shape;284;p5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5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6"/>
          <p:cNvSpPr txBox="1"/>
          <p:nvPr>
            <p:ph type="title"/>
          </p:nvPr>
        </p:nvSpPr>
        <p:spPr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6"/>
          <p:cNvSpPr txBox="1"/>
          <p:nvPr>
            <p:ph idx="1" type="body"/>
          </p:nvPr>
        </p:nvSpPr>
        <p:spPr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290" name="Google Shape;290;p5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6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7"/>
          <p:cNvSpPr txBox="1"/>
          <p:nvPr>
            <p:ph type="title"/>
          </p:nvPr>
        </p:nvSpPr>
        <p:spPr>
          <a:xfrm>
            <a:off x="623888" y="1712423"/>
            <a:ext cx="78867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7"/>
          <p:cNvSpPr txBox="1"/>
          <p:nvPr>
            <p:ph idx="1" type="body"/>
          </p:nvPr>
        </p:nvSpPr>
        <p:spPr>
          <a:xfrm>
            <a:off x="623888" y="455263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6" name="Google Shape;296;p5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7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8"/>
          <p:cNvSpPr txBox="1"/>
          <p:nvPr>
            <p:ph type="title"/>
          </p:nvPr>
        </p:nvSpPr>
        <p:spPr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8"/>
          <p:cNvSpPr txBox="1"/>
          <p:nvPr>
            <p:ph idx="1" type="body"/>
          </p:nvPr>
        </p:nvSpPr>
        <p:spPr>
          <a:xfrm>
            <a:off x="633845" y="1828801"/>
            <a:ext cx="38862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02" name="Google Shape;302;p58"/>
          <p:cNvSpPr txBox="1"/>
          <p:nvPr>
            <p:ph idx="2" type="body"/>
          </p:nvPr>
        </p:nvSpPr>
        <p:spPr>
          <a:xfrm>
            <a:off x="4629150" y="1828801"/>
            <a:ext cx="38862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03" name="Google Shape;303;p5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5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8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"/>
          <p:cNvSpPr txBox="1"/>
          <p:nvPr>
            <p:ph idx="1" type="body"/>
          </p:nvPr>
        </p:nvSpPr>
        <p:spPr>
          <a:xfrm>
            <a:off x="633845" y="1681851"/>
            <a:ext cx="386715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8" name="Google Shape;308;p59"/>
          <p:cNvSpPr txBox="1"/>
          <p:nvPr>
            <p:ph idx="2" type="body"/>
          </p:nvPr>
        </p:nvSpPr>
        <p:spPr>
          <a:xfrm>
            <a:off x="633845" y="2507551"/>
            <a:ext cx="3867150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09" name="Google Shape;309;p59"/>
          <p:cNvSpPr txBox="1"/>
          <p:nvPr>
            <p:ph idx="3" type="body"/>
          </p:nvPr>
        </p:nvSpPr>
        <p:spPr>
          <a:xfrm>
            <a:off x="4629150" y="1681851"/>
            <a:ext cx="38862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0" name="Google Shape;310;p59"/>
          <p:cNvSpPr txBox="1"/>
          <p:nvPr>
            <p:ph idx="4" type="body"/>
          </p:nvPr>
        </p:nvSpPr>
        <p:spPr>
          <a:xfrm>
            <a:off x="4629150" y="2507551"/>
            <a:ext cx="3886201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11" name="Google Shape;311;p59"/>
          <p:cNvSpPr txBox="1"/>
          <p:nvPr>
            <p:ph type="title"/>
          </p:nvPr>
        </p:nvSpPr>
        <p:spPr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5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59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0"/>
          <p:cNvSpPr txBox="1"/>
          <p:nvPr>
            <p:ph type="title"/>
          </p:nvPr>
        </p:nvSpPr>
        <p:spPr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6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6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60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6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61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2"/>
          <p:cNvSpPr txBox="1"/>
          <p:nvPr>
            <p:ph type="title"/>
          </p:nvPr>
        </p:nvSpPr>
        <p:spPr>
          <a:xfrm>
            <a:off x="630936" y="457201"/>
            <a:ext cx="294894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62"/>
          <p:cNvSpPr txBox="1"/>
          <p:nvPr>
            <p:ph idx="1" type="body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327" name="Google Shape;327;p62"/>
          <p:cNvSpPr txBox="1"/>
          <p:nvPr>
            <p:ph idx="2" type="body"/>
          </p:nvPr>
        </p:nvSpPr>
        <p:spPr>
          <a:xfrm>
            <a:off x="630936" y="2057399"/>
            <a:ext cx="294894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328" name="Google Shape;328;p6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6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62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3"/>
          <p:cNvSpPr txBox="1"/>
          <p:nvPr>
            <p:ph type="title"/>
          </p:nvPr>
        </p:nvSpPr>
        <p:spPr>
          <a:xfrm>
            <a:off x="630936" y="457200"/>
            <a:ext cx="29489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63"/>
          <p:cNvSpPr/>
          <p:nvPr>
            <p:ph idx="2" type="pic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63"/>
          <p:cNvSpPr txBox="1"/>
          <p:nvPr>
            <p:ph idx="1" type="body"/>
          </p:nvPr>
        </p:nvSpPr>
        <p:spPr>
          <a:xfrm>
            <a:off x="630936" y="2057400"/>
            <a:ext cx="294894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335" name="Google Shape;335;p6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6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63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4"/>
          <p:cNvSpPr txBox="1"/>
          <p:nvPr>
            <p:ph type="title"/>
          </p:nvPr>
        </p:nvSpPr>
        <p:spPr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64"/>
          <p:cNvSpPr txBox="1"/>
          <p:nvPr>
            <p:ph idx="1" type="body"/>
          </p:nvPr>
        </p:nvSpPr>
        <p:spPr>
          <a:xfrm rot="5400000">
            <a:off x="2401094" y="61119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41" name="Google Shape;341;p6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6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64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5"/>
          <p:cNvSpPr txBox="1"/>
          <p:nvPr>
            <p:ph type="title"/>
          </p:nvPr>
        </p:nvSpPr>
        <p:spPr>
          <a:xfrm rot="5400000">
            <a:off x="4623594" y="2280443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65"/>
          <p:cNvSpPr txBox="1"/>
          <p:nvPr>
            <p:ph idx="1" type="body"/>
          </p:nvPr>
        </p:nvSpPr>
        <p:spPr>
          <a:xfrm rot="5400000">
            <a:off x="623094" y="365919"/>
            <a:ext cx="5811837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47" name="Google Shape;347;p6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6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65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7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4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10" name="Google Shape;10;p14"/>
            <p:cNvSpPr/>
            <p:nvPr/>
          </p:nvSpPr>
          <p:spPr>
            <a:xfrm>
              <a:off x="-8467" y="4013200"/>
              <a:ext cx="457200" cy="2853267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" name="Google Shape;11;p14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4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4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4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7" name="Google Shape;17;p14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14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1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65125" y="366713"/>
            <a:ext cx="8413750" cy="625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3366CC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525463" y="1050925"/>
            <a:ext cx="81026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336699"/>
              </a:buClr>
              <a:buSzPts val="1800"/>
              <a:buFont typeface="Noto Sans Symbols"/>
              <a:buChar char="⮚"/>
              <a:defRPr b="0" i="0" sz="2000" u="none" cap="none" strike="noStrike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500"/>
              <a:buFont typeface="Noto Sans Symbols"/>
              <a:buChar char="❖"/>
              <a:defRPr b="0" i="0" sz="20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31"/>
          <p:cNvSpPr txBox="1"/>
          <p:nvPr>
            <p:ph idx="11" type="ftr"/>
          </p:nvPr>
        </p:nvSpPr>
        <p:spPr>
          <a:xfrm>
            <a:off x="511175" y="6354763"/>
            <a:ext cx="4038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31"/>
          <p:cNvSpPr txBox="1"/>
          <p:nvPr>
            <p:ph idx="12" type="sldNum"/>
          </p:nvPr>
        </p:nvSpPr>
        <p:spPr>
          <a:xfrm>
            <a:off x="6400800" y="6354763"/>
            <a:ext cx="2209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</p:sldLayoutIdLst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4" name="Google Shape;204;p4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125" y="1235075"/>
            <a:ext cx="4275138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2"/>
          <p:cNvSpPr txBox="1"/>
          <p:nvPr/>
        </p:nvSpPr>
        <p:spPr>
          <a:xfrm>
            <a:off x="4846638" y="2514600"/>
            <a:ext cx="3749675" cy="2270125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292929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99"/>
                </a:solidFill>
                <a:latin typeface="Arial"/>
                <a:ea typeface="Arial"/>
                <a:cs typeface="Arial"/>
                <a:sym typeface="Arial"/>
              </a:rPr>
              <a:t>Chapter 1</a:t>
            </a:r>
            <a:endParaRPr/>
          </a:p>
          <a:p>
            <a:pPr indent="0" lvl="0" marL="0" marR="0" rtl="0" algn="l"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to Human Resource Management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4"/>
          <p:cNvSpPr txBox="1"/>
          <p:nvPr>
            <p:ph type="title"/>
          </p:nvPr>
        </p:nvSpPr>
        <p:spPr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7" name="Google Shape;277;p54"/>
          <p:cNvSpPr txBox="1"/>
          <p:nvPr>
            <p:ph idx="1" type="body"/>
          </p:nvPr>
        </p:nvSpPr>
        <p:spPr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8" name="Google Shape;278;p5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9" name="Google Shape;279;p5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8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0" name="Google Shape;280;p54"/>
          <p:cNvSpPr txBox="1"/>
          <p:nvPr>
            <p:ph idx="12" type="sldNum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"/>
          <p:cNvSpPr/>
          <p:nvPr/>
        </p:nvSpPr>
        <p:spPr>
          <a:xfrm>
            <a:off x="0" y="6264275"/>
            <a:ext cx="9144000" cy="59372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"/>
          <p:cNvSpPr txBox="1"/>
          <p:nvPr/>
        </p:nvSpPr>
        <p:spPr>
          <a:xfrm>
            <a:off x="3749675" y="6354763"/>
            <a:ext cx="12795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GARY DESSLER</a:t>
            </a:r>
            <a:endParaRPr/>
          </a:p>
        </p:txBody>
      </p:sp>
      <p:sp>
        <p:nvSpPr>
          <p:cNvPr id="359" name="Google Shape;359;p1"/>
          <p:cNvSpPr txBox="1"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339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HUMAN RESOURCE MANAGEMENT </a:t>
            </a:r>
            <a:endParaRPr/>
          </a:p>
        </p:txBody>
      </p:sp>
      <p:sp>
        <p:nvSpPr>
          <p:cNvPr id="360" name="Google Shape;360;p1"/>
          <p:cNvSpPr txBox="1"/>
          <p:nvPr/>
        </p:nvSpPr>
        <p:spPr>
          <a:xfrm>
            <a:off x="4365359" y="1997839"/>
            <a:ext cx="292636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Chapter 1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Introduction to Human Resource Management</a:t>
            </a:r>
            <a:endParaRPr/>
          </a:p>
        </p:txBody>
      </p:sp>
      <p:pic>
        <p:nvPicPr>
          <p:cNvPr id="361" name="Google Shape;3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7088"/>
            <a:ext cx="3714750" cy="51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"/>
          <p:cNvSpPr txBox="1"/>
          <p:nvPr>
            <p:ph type="title"/>
          </p:nvPr>
        </p:nvSpPr>
        <p:spPr>
          <a:xfrm>
            <a:off x="484188" y="452438"/>
            <a:ext cx="7056437" cy="78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ibre Franklin Medium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Learning outcomes</a:t>
            </a:r>
            <a:br>
              <a:rPr lang="en-US"/>
            </a:br>
            <a:endParaRPr/>
          </a:p>
        </p:txBody>
      </p:sp>
      <p:sp>
        <p:nvSpPr>
          <p:cNvPr id="367" name="Google Shape;367;p2"/>
          <p:cNvSpPr txBox="1"/>
          <p:nvPr>
            <p:ph idx="1" type="body"/>
          </p:nvPr>
        </p:nvSpPr>
        <p:spPr>
          <a:xfrm>
            <a:off x="484188" y="1513812"/>
            <a:ext cx="6739543" cy="4710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Explain what human resource management is and how it relates to the management process.</a:t>
            </a:r>
            <a:endParaRPr/>
          </a:p>
          <a:p>
            <a:pPr indent="-457200" lvl="0" marL="457200" rtl="0" algn="l">
              <a:spcBef>
                <a:spcPts val="450"/>
              </a:spcBef>
              <a:spcAft>
                <a:spcPts val="0"/>
              </a:spcAft>
              <a:buClr>
                <a:srgbClr val="3366CC"/>
              </a:buClr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Show with examples why human resource management is important to all managers.</a:t>
            </a:r>
            <a:endParaRPr/>
          </a:p>
          <a:p>
            <a:pPr indent="-457200" lvl="0" marL="457200" rtl="0" algn="l">
              <a:spcBef>
                <a:spcPts val="450"/>
              </a:spcBef>
              <a:spcAft>
                <a:spcPts val="0"/>
              </a:spcAft>
              <a:buClr>
                <a:srgbClr val="3366CC"/>
              </a:buClr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Illustrate the human resources responsibilities of line and staff (HR) managers.</a:t>
            </a:r>
            <a:endParaRPr/>
          </a:p>
          <a:p>
            <a:pPr indent="-457200" lvl="0" marL="457200" rtl="0" algn="l">
              <a:spcBef>
                <a:spcPts val="450"/>
              </a:spcBef>
              <a:spcAft>
                <a:spcPts val="0"/>
              </a:spcAft>
              <a:buClr>
                <a:srgbClr val="3366CC"/>
              </a:buClr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Briefly discuss and illustrate each of the important trends influencing human resource management.</a:t>
            </a:r>
            <a:endParaRPr/>
          </a:p>
          <a:p>
            <a:pPr indent="-457200" lvl="0" marL="457200" rtl="0" algn="l">
              <a:spcBef>
                <a:spcPts val="450"/>
              </a:spcBef>
              <a:spcAft>
                <a:spcPts val="0"/>
              </a:spcAft>
              <a:buClr>
                <a:srgbClr val="3366CC"/>
              </a:buClr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List and briefly describe important trends in human resource management.</a:t>
            </a:r>
            <a:endParaRPr/>
          </a:p>
          <a:p>
            <a:pPr indent="-457200" lvl="0" marL="457200" rtl="0" algn="l">
              <a:spcBef>
                <a:spcPts val="450"/>
              </a:spcBef>
              <a:spcAft>
                <a:spcPts val="0"/>
              </a:spcAft>
              <a:buClr>
                <a:srgbClr val="3366CC"/>
              </a:buClr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Define and give an example of evidence-based human resource management.</a:t>
            </a:r>
            <a:endParaRPr/>
          </a:p>
          <a:p>
            <a:pPr indent="-457200" lvl="0" marL="457200" rtl="0" algn="l">
              <a:spcBef>
                <a:spcPts val="450"/>
              </a:spcBef>
              <a:spcAft>
                <a:spcPts val="0"/>
              </a:spcAft>
              <a:buClr>
                <a:srgbClr val="3366CC"/>
              </a:buClr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Outline the plan of this book.</a:t>
            </a:r>
            <a:endParaRPr/>
          </a:p>
          <a:p>
            <a:pPr indent="-251466" lvl="0" marL="342906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Font typeface="Noto Sans Symbols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8" name="Google Shape;368;p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1–</a:t>
            </a: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"/>
          <p:cNvSpPr txBox="1"/>
          <p:nvPr>
            <p:ph type="title"/>
          </p:nvPr>
        </p:nvSpPr>
        <p:spPr>
          <a:xfrm>
            <a:off x="609599" y="609600"/>
            <a:ext cx="6347713" cy="53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n-US"/>
              <a:t>The Management Process</a:t>
            </a:r>
            <a:endParaRPr/>
          </a:p>
        </p:txBody>
      </p:sp>
      <p:sp>
        <p:nvSpPr>
          <p:cNvPr id="374" name="Google Shape;374;p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2011 Pearson Education</a:t>
            </a:r>
            <a:endParaRPr/>
          </a:p>
        </p:txBody>
      </p:sp>
      <p:sp>
        <p:nvSpPr>
          <p:cNvPr id="375" name="Google Shape;375;p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76" name="Google Shape;376;p3"/>
          <p:cNvGrpSpPr/>
          <p:nvPr/>
        </p:nvGrpSpPr>
        <p:grpSpPr>
          <a:xfrm>
            <a:off x="457200" y="1327150"/>
            <a:ext cx="8412163" cy="4479925"/>
            <a:chOff x="288" y="836"/>
            <a:chExt cx="5299" cy="2822"/>
          </a:xfrm>
        </p:grpSpPr>
        <p:sp>
          <p:nvSpPr>
            <p:cNvPr id="377" name="Google Shape;377;p3"/>
            <p:cNvSpPr/>
            <p:nvPr/>
          </p:nvSpPr>
          <p:spPr>
            <a:xfrm>
              <a:off x="899" y="1123"/>
              <a:ext cx="3864" cy="2145"/>
            </a:xfrm>
            <a:prstGeom prst="ellipse">
              <a:avLst/>
            </a:prstGeom>
            <a:noFill/>
            <a:ln cap="flat" cmpd="sng" w="28575">
              <a:solidFill>
                <a:srgbClr val="339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oxshdow05" id="378" name="Google Shape;37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80" y="836"/>
              <a:ext cx="1705" cy="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LTblue01" id="379" name="Google Shape;379;p3"/>
            <p:cNvSpPr txBox="1"/>
            <p:nvPr/>
          </p:nvSpPr>
          <p:spPr>
            <a:xfrm>
              <a:off x="2171" y="870"/>
              <a:ext cx="1401" cy="64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Planning</a:t>
              </a:r>
              <a:endParaRPr/>
            </a:p>
          </p:txBody>
        </p:sp>
        <p:pic>
          <p:nvPicPr>
            <p:cNvPr descr="Boxshdow05" id="380" name="Google Shape;38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83" y="1741"/>
              <a:ext cx="1704" cy="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Brown01" id="381" name="Google Shape;381;p3"/>
            <p:cNvSpPr txBox="1"/>
            <p:nvPr/>
          </p:nvSpPr>
          <p:spPr>
            <a:xfrm>
              <a:off x="3973" y="1775"/>
              <a:ext cx="1401" cy="6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Organizing</a:t>
              </a:r>
              <a:endParaRPr/>
            </a:p>
          </p:txBody>
        </p:sp>
        <p:pic>
          <p:nvPicPr>
            <p:cNvPr descr="Boxshdow05" id="382" name="Google Shape;38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8" y="1741"/>
              <a:ext cx="1704" cy="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oxshdow05" id="383" name="Google Shape;38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9" y="2819"/>
              <a:ext cx="1704" cy="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Tan01" id="384" name="Google Shape;384;p3"/>
            <p:cNvSpPr txBox="1"/>
            <p:nvPr/>
          </p:nvSpPr>
          <p:spPr>
            <a:xfrm>
              <a:off x="909" y="2853"/>
              <a:ext cx="1401" cy="64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Leading</a:t>
              </a:r>
              <a:endParaRPr/>
            </a:p>
          </p:txBody>
        </p:sp>
        <p:pic>
          <p:nvPicPr>
            <p:cNvPr descr="Boxshdow05" id="385" name="Google Shape;38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36" y="2813"/>
              <a:ext cx="1704" cy="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LTGreen01" id="386" name="Google Shape;386;p3"/>
            <p:cNvSpPr txBox="1"/>
            <p:nvPr/>
          </p:nvSpPr>
          <p:spPr>
            <a:xfrm>
              <a:off x="3427" y="2847"/>
              <a:ext cx="1401" cy="64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Staffing</a:t>
              </a:r>
              <a:endParaRPr/>
            </a:p>
          </p:txBody>
        </p:sp>
        <p:sp>
          <p:nvSpPr>
            <p:cNvPr descr="Pink01" id="387" name="Google Shape;387;p3"/>
            <p:cNvSpPr txBox="1"/>
            <p:nvPr/>
          </p:nvSpPr>
          <p:spPr>
            <a:xfrm>
              <a:off x="378" y="1775"/>
              <a:ext cx="1402" cy="64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Controlling</a:t>
              </a:r>
              <a:endParaRPr/>
            </a:p>
          </p:txBody>
        </p:sp>
      </p:grp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Human Resource Management at Work</a:t>
            </a:r>
            <a:endParaRPr/>
          </a:p>
        </p:txBody>
      </p:sp>
      <p:sp>
        <p:nvSpPr>
          <p:cNvPr id="396" name="Google Shape;396;p4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Is Human Resource Management (HRM)?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process of acquiring, training, appraising, and compensating employees, and of attending to their labor relations, health and safety, and fairness concerns.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Organization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People with formally assigned roles who work together to achieve the organization’s goals.</a:t>
            </a:r>
            <a:endParaRPr/>
          </a:p>
          <a:p>
            <a:pPr indent="-342900" lvl="0" marL="342900" rtl="0" algn="just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Manager</a:t>
            </a:r>
            <a:endParaRPr/>
          </a:p>
          <a:p>
            <a:pPr indent="-285750" lvl="1" marL="742950" rtl="0" algn="just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person responsible for accomplishing the organization’s goals, and who does so by managing the efforts of the organization’s people.</a:t>
            </a:r>
            <a:endParaRPr/>
          </a:p>
        </p:txBody>
      </p:sp>
      <p:sp>
        <p:nvSpPr>
          <p:cNvPr id="397" name="Google Shape;397;p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1–</a:t>
            </a: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"/>
          <p:cNvSpPr txBox="1"/>
          <p:nvPr>
            <p:ph type="title"/>
          </p:nvPr>
        </p:nvSpPr>
        <p:spPr>
          <a:xfrm>
            <a:off x="548684" y="27781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Human Resource Management Processes</a:t>
            </a:r>
            <a:endParaRPr/>
          </a:p>
        </p:txBody>
      </p:sp>
      <p:sp>
        <p:nvSpPr>
          <p:cNvPr id="406" name="Google Shape;406;p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1–</a:t>
            </a: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grpSp>
        <p:nvGrpSpPr>
          <p:cNvPr id="407" name="Google Shape;407;p5"/>
          <p:cNvGrpSpPr/>
          <p:nvPr/>
        </p:nvGrpSpPr>
        <p:grpSpPr>
          <a:xfrm>
            <a:off x="1005879" y="1696737"/>
            <a:ext cx="5951435" cy="4505325"/>
            <a:chOff x="630" y="860"/>
            <a:chExt cx="4498" cy="2838"/>
          </a:xfrm>
        </p:grpSpPr>
        <p:cxnSp>
          <p:nvCxnSpPr>
            <p:cNvPr id="408" name="Google Shape;408;p5"/>
            <p:cNvCxnSpPr/>
            <p:nvPr/>
          </p:nvCxnSpPr>
          <p:spPr>
            <a:xfrm rot="10800000">
              <a:off x="1940" y="1774"/>
              <a:ext cx="470" cy="293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5"/>
            <p:cNvCxnSpPr/>
            <p:nvPr/>
          </p:nvCxnSpPr>
          <p:spPr>
            <a:xfrm flipH="1">
              <a:off x="2360" y="2788"/>
              <a:ext cx="259" cy="42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5"/>
            <p:cNvCxnSpPr/>
            <p:nvPr/>
          </p:nvCxnSpPr>
          <p:spPr>
            <a:xfrm>
              <a:off x="3139" y="2788"/>
              <a:ext cx="262" cy="42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5"/>
            <p:cNvCxnSpPr/>
            <p:nvPr/>
          </p:nvCxnSpPr>
          <p:spPr>
            <a:xfrm rot="10800000">
              <a:off x="2879" y="1324"/>
              <a:ext cx="0" cy="58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5"/>
            <p:cNvCxnSpPr/>
            <p:nvPr/>
          </p:nvCxnSpPr>
          <p:spPr>
            <a:xfrm flipH="1" rot="10800000">
              <a:off x="3349" y="1773"/>
              <a:ext cx="469" cy="29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descr="redfill01" id="413" name="Google Shape;413;p5"/>
            <p:cNvSpPr/>
            <p:nvPr/>
          </p:nvSpPr>
          <p:spPr>
            <a:xfrm>
              <a:off x="2303" y="860"/>
              <a:ext cx="1146" cy="530"/>
            </a:xfrm>
            <a:prstGeom prst="roundRect">
              <a:avLst>
                <a:gd fmla="val 5662" name="adj"/>
              </a:avLst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F27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Acquisition</a:t>
              </a:r>
              <a:endParaRPr/>
            </a:p>
          </p:txBody>
        </p:sp>
        <p:sp>
          <p:nvSpPr>
            <p:cNvPr descr="grayfill01" id="414" name="Google Shape;414;p5"/>
            <p:cNvSpPr/>
            <p:nvPr/>
          </p:nvSpPr>
          <p:spPr>
            <a:xfrm>
              <a:off x="3818" y="1514"/>
              <a:ext cx="1146" cy="530"/>
            </a:xfrm>
            <a:prstGeom prst="roundRect">
              <a:avLst>
                <a:gd fmla="val 5472" name="adj"/>
              </a:avLst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Training</a:t>
              </a:r>
              <a:endParaRPr/>
            </a:p>
          </p:txBody>
        </p:sp>
        <p:sp>
          <p:nvSpPr>
            <p:cNvPr descr="greenfill02" id="415" name="Google Shape;415;p5"/>
            <p:cNvSpPr/>
            <p:nvPr/>
          </p:nvSpPr>
          <p:spPr>
            <a:xfrm>
              <a:off x="3982" y="2357"/>
              <a:ext cx="1146" cy="530"/>
            </a:xfrm>
            <a:prstGeom prst="roundRect">
              <a:avLst>
                <a:gd fmla="val 9245" name="adj"/>
              </a:avLst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0AB0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Appraisal</a:t>
              </a:r>
              <a:endParaRPr/>
            </a:p>
          </p:txBody>
        </p:sp>
        <p:sp>
          <p:nvSpPr>
            <p:cNvPr descr="greenfill01" id="416" name="Google Shape;416;p5"/>
            <p:cNvSpPr/>
            <p:nvPr/>
          </p:nvSpPr>
          <p:spPr>
            <a:xfrm>
              <a:off x="3280" y="3168"/>
              <a:ext cx="1146" cy="530"/>
            </a:xfrm>
            <a:prstGeom prst="roundRect">
              <a:avLst>
                <a:gd fmla="val 8301" name="adj"/>
              </a:avLst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74D2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Compensation</a:t>
              </a:r>
              <a:endParaRPr/>
            </a:p>
          </p:txBody>
        </p:sp>
        <p:sp>
          <p:nvSpPr>
            <p:cNvPr descr="bluefill01" id="417" name="Google Shape;417;p5"/>
            <p:cNvSpPr/>
            <p:nvPr/>
          </p:nvSpPr>
          <p:spPr>
            <a:xfrm>
              <a:off x="1331" y="3168"/>
              <a:ext cx="1146" cy="530"/>
            </a:xfrm>
            <a:prstGeom prst="roundRect">
              <a:avLst>
                <a:gd fmla="val 10755" name="adj"/>
              </a:avLst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7DC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Labor Relations</a:t>
              </a:r>
              <a:endParaRPr/>
            </a:p>
          </p:txBody>
        </p:sp>
        <p:sp>
          <p:nvSpPr>
            <p:cNvPr descr="purplefill01" id="418" name="Google Shape;418;p5"/>
            <p:cNvSpPr/>
            <p:nvPr/>
          </p:nvSpPr>
          <p:spPr>
            <a:xfrm>
              <a:off x="630" y="2360"/>
              <a:ext cx="1146" cy="530"/>
            </a:xfrm>
            <a:prstGeom prst="roundRect">
              <a:avLst>
                <a:gd fmla="val 7356" name="adj"/>
              </a:avLst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C46A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Health and Safety</a:t>
              </a:r>
              <a:endParaRPr/>
            </a:p>
          </p:txBody>
        </p:sp>
        <p:sp>
          <p:nvSpPr>
            <p:cNvPr descr="brownfill01" id="419" name="Google Shape;419;p5"/>
            <p:cNvSpPr/>
            <p:nvPr/>
          </p:nvSpPr>
          <p:spPr>
            <a:xfrm>
              <a:off x="796" y="1517"/>
              <a:ext cx="1146" cy="530"/>
            </a:xfrm>
            <a:prstGeom prst="roundRect">
              <a:avLst>
                <a:gd fmla="val 7356" name="adj"/>
              </a:avLst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EB9F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Fairness</a:t>
              </a:r>
              <a:endParaRPr/>
            </a:p>
          </p:txBody>
        </p:sp>
        <p:cxnSp>
          <p:nvCxnSpPr>
            <p:cNvPr id="420" name="Google Shape;420;p5"/>
            <p:cNvCxnSpPr/>
            <p:nvPr/>
          </p:nvCxnSpPr>
          <p:spPr>
            <a:xfrm flipH="1">
              <a:off x="1774" y="2479"/>
              <a:ext cx="517" cy="9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5"/>
            <p:cNvCxnSpPr/>
            <p:nvPr/>
          </p:nvCxnSpPr>
          <p:spPr>
            <a:xfrm>
              <a:off x="3465" y="2478"/>
              <a:ext cx="517" cy="9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2" name="Google Shape;422;p5"/>
            <p:cNvSpPr/>
            <p:nvPr/>
          </p:nvSpPr>
          <p:spPr>
            <a:xfrm>
              <a:off x="2280" y="1912"/>
              <a:ext cx="1200" cy="94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0099CC"/>
                </a:gs>
                <a:gs pos="100000">
                  <a:srgbClr val="006B8E"/>
                </a:gs>
              </a:gsLst>
              <a:lin ang="5400000" scaled="0"/>
            </a:gradFill>
            <a:ln cap="flat" cmpd="sng" w="3810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Human Resource Management (HRM)</a:t>
              </a:r>
              <a:endParaRPr/>
            </a:p>
          </p:txBody>
        </p:sp>
      </p:grp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"/>
          <p:cNvSpPr txBox="1"/>
          <p:nvPr>
            <p:ph type="title"/>
          </p:nvPr>
        </p:nvSpPr>
        <p:spPr>
          <a:xfrm>
            <a:off x="609599" y="609600"/>
            <a:ext cx="6347714" cy="807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n-US"/>
              <a:t>Personnel Aspects of a Manager’s Job</a:t>
            </a:r>
            <a:endParaRPr/>
          </a:p>
        </p:txBody>
      </p:sp>
      <p:sp>
        <p:nvSpPr>
          <p:cNvPr id="428" name="Google Shape;428;p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6"/>
          <p:cNvSpPr/>
          <p:nvPr/>
        </p:nvSpPr>
        <p:spPr>
          <a:xfrm>
            <a:off x="609599" y="1783098"/>
            <a:ext cx="7071327" cy="4108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Conducting job analyses 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Planning labor needs and recruiting job candidates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Selecting job candidates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Orienting and training new employees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Managing wages and salaries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Providing incentives and benefits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Appraising performance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Communicating 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and developing managers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Building employee commitment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"/>
          <p:cNvSpPr txBox="1"/>
          <p:nvPr>
            <p:ph type="title"/>
          </p:nvPr>
        </p:nvSpPr>
        <p:spPr>
          <a:xfrm>
            <a:off x="609599" y="609600"/>
            <a:ext cx="6347714" cy="71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Personnel Mistakes</a:t>
            </a:r>
            <a:endParaRPr/>
          </a:p>
        </p:txBody>
      </p:sp>
      <p:sp>
        <p:nvSpPr>
          <p:cNvPr id="435" name="Google Shape;435;p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7"/>
          <p:cNvSpPr/>
          <p:nvPr/>
        </p:nvSpPr>
        <p:spPr>
          <a:xfrm>
            <a:off x="609599" y="1501016"/>
            <a:ext cx="6248401" cy="4579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Hire the wrong person for the job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Experience high turnover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your people not doing their best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Waste time with useless interviews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your company in court because of discriminatory actions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your company cited by labor inspectors for unsafe practices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some employees think their salaries are unfair and inequitable relative to others in the organization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 a lack of training to undermine your department’s effectiveness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Commit any unfair labor practices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8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Basic HR Concepts</a:t>
            </a:r>
            <a:endParaRPr/>
          </a:p>
        </p:txBody>
      </p:sp>
      <p:sp>
        <p:nvSpPr>
          <p:cNvPr id="445" name="Google Shape;445;p8"/>
          <p:cNvSpPr txBox="1"/>
          <p:nvPr>
            <p:ph idx="1" type="body"/>
          </p:nvPr>
        </p:nvSpPr>
        <p:spPr>
          <a:xfrm>
            <a:off x="548816" y="1417637"/>
            <a:ext cx="6332537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bottom line of managing:</a:t>
            </a:r>
            <a:b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</a:b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	</a:t>
            </a:r>
            <a:r>
              <a:rPr i="1" lang="en-US" sz="2800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Getting results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HR creates value by engaging in activities that produce the employee behaviors that the organization needs to achieve its strategic goals.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Looking ahead: Using evidence-based HRM to measure the value of HR activities in achieving those goals.</a:t>
            </a:r>
            <a:endParaRPr/>
          </a:p>
        </p:txBody>
      </p:sp>
      <p:sp>
        <p:nvSpPr>
          <p:cNvPr id="446" name="Google Shape;446;p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1–</a:t>
            </a: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pic>
        <p:nvPicPr>
          <p:cNvPr descr="PE03726_" id="447" name="Google Shape;4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925" y="2514600"/>
            <a:ext cx="2103438" cy="3017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Line and Staff Aspects of HRM</a:t>
            </a:r>
            <a:endParaRPr/>
          </a:p>
        </p:txBody>
      </p:sp>
      <p:sp>
        <p:nvSpPr>
          <p:cNvPr id="456" name="Google Shape;456;p9"/>
          <p:cNvSpPr txBox="1"/>
          <p:nvPr>
            <p:ph idx="1" type="body"/>
          </p:nvPr>
        </p:nvSpPr>
        <p:spPr>
          <a:xfrm>
            <a:off x="609599" y="1450976"/>
            <a:ext cx="6705571" cy="5211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Line Manager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Is authorized (has line authority) to direct the work of subordinates and is responsible for accomplishing the organization’s tasks.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Staff Manager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Assists and advises line managers.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Has functional authority to coordinate personnel activities and enforce organization policies.</a:t>
            </a:r>
            <a:endParaRPr/>
          </a:p>
        </p:txBody>
      </p:sp>
      <p:sp>
        <p:nvSpPr>
          <p:cNvPr id="457" name="Google Shape;457;p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1–</a:t>
            </a: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pic>
        <p:nvPicPr>
          <p:cNvPr descr="BS01594_" id="458" name="Google Shape;4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9088" y="4525963"/>
            <a:ext cx="2193925" cy="21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0"/>
          <p:cNvSpPr txBox="1"/>
          <p:nvPr>
            <p:ph type="title"/>
          </p:nvPr>
        </p:nvSpPr>
        <p:spPr>
          <a:xfrm>
            <a:off x="271135" y="497860"/>
            <a:ext cx="7775547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ibre Franklin Medium"/>
              <a:buNone/>
            </a:pPr>
            <a:r>
              <a:rPr lang="en-US" sz="3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Line Managers’ HRM Responsibilities</a:t>
            </a:r>
            <a:endParaRPr/>
          </a:p>
        </p:txBody>
      </p:sp>
      <p:sp>
        <p:nvSpPr>
          <p:cNvPr id="467" name="Google Shape;467;p10"/>
          <p:cNvSpPr txBox="1"/>
          <p:nvPr>
            <p:ph idx="1" type="body"/>
          </p:nvPr>
        </p:nvSpPr>
        <p:spPr>
          <a:xfrm>
            <a:off x="453698" y="1524978"/>
            <a:ext cx="6770033" cy="4846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Placing the right person on the right job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Starting new employees in the organization (orientation)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Training employees for jobs that are new to them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Improving the job performance of each person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Gaining creative cooperation and developing smooth working 	relationships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Interpreting the firm’s policies and procedures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Controlling labor costs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Developing the abilities of each person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Creating and maintaining department morale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Protecting employees’ health and physical condition</a:t>
            </a:r>
            <a:endParaRPr/>
          </a:p>
          <a:p>
            <a:pPr indent="91440" lvl="0" marL="0" rtl="0" algn="l">
              <a:spcBef>
                <a:spcPts val="9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468" name="Google Shape;468;p1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1–</a:t>
            </a: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1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Human Resource Managers’ Duties</a:t>
            </a:r>
            <a:endParaRPr/>
          </a:p>
        </p:txBody>
      </p:sp>
      <p:sp>
        <p:nvSpPr>
          <p:cNvPr id="477" name="Google Shape;477;p1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1–</a:t>
            </a: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grpSp>
        <p:nvGrpSpPr>
          <p:cNvPr id="478" name="Google Shape;478;p11"/>
          <p:cNvGrpSpPr/>
          <p:nvPr/>
        </p:nvGrpSpPr>
        <p:grpSpPr>
          <a:xfrm>
            <a:off x="491472" y="2423171"/>
            <a:ext cx="6583968" cy="2743200"/>
            <a:chOff x="403" y="1296"/>
            <a:chExt cx="4954" cy="1728"/>
          </a:xfrm>
        </p:grpSpPr>
        <p:sp>
          <p:nvSpPr>
            <p:cNvPr descr="redfill01" id="479" name="Google Shape;479;p11"/>
            <p:cNvSpPr/>
            <p:nvPr/>
          </p:nvSpPr>
          <p:spPr>
            <a:xfrm>
              <a:off x="403" y="2353"/>
              <a:ext cx="1445" cy="671"/>
            </a:xfrm>
            <a:prstGeom prst="roundRect">
              <a:avLst>
                <a:gd fmla="val 5653" name="adj"/>
              </a:avLst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76200">
              <a:solidFill>
                <a:srgbClr val="EFA8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Line Function</a:t>
              </a:r>
              <a:br>
                <a:rPr lang="en-US" sz="18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Line Authority</a:t>
              </a:r>
              <a:b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Implied Authority</a:t>
              </a:r>
              <a:endParaRPr/>
            </a:p>
          </p:txBody>
        </p:sp>
        <p:sp>
          <p:nvSpPr>
            <p:cNvPr descr="bluefill01" id="480" name="Google Shape;480;p11"/>
            <p:cNvSpPr/>
            <p:nvPr/>
          </p:nvSpPr>
          <p:spPr>
            <a:xfrm>
              <a:off x="3912" y="2353"/>
              <a:ext cx="1445" cy="671"/>
            </a:xfrm>
            <a:prstGeom prst="roundRect">
              <a:avLst>
                <a:gd fmla="val 6694" name="adj"/>
              </a:avLst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76200">
              <a:solidFill>
                <a:srgbClr val="7DC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Staff Functions</a:t>
              </a:r>
              <a:br>
                <a:rPr lang="en-US" sz="18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Staff Authority</a:t>
              </a:r>
              <a:b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Innovator/Advocacy</a:t>
              </a:r>
              <a:endParaRPr/>
            </a:p>
          </p:txBody>
        </p:sp>
        <p:sp>
          <p:nvSpPr>
            <p:cNvPr descr="brownfill01" id="481" name="Google Shape;481;p11"/>
            <p:cNvSpPr/>
            <p:nvPr/>
          </p:nvSpPr>
          <p:spPr>
            <a:xfrm>
              <a:off x="1901" y="1296"/>
              <a:ext cx="1942" cy="634"/>
            </a:xfrm>
            <a:prstGeom prst="ellipse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76200">
              <a:solidFill>
                <a:srgbClr val="EEAE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Functions of</a:t>
              </a:r>
              <a:br>
                <a:rPr lang="en-US" sz="24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lang="en-US" sz="24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HR Managers</a:t>
              </a:r>
              <a:endParaRPr/>
            </a:p>
          </p:txBody>
        </p:sp>
        <p:sp>
          <p:nvSpPr>
            <p:cNvPr descr="greenfill01" id="482" name="Google Shape;482;p11"/>
            <p:cNvSpPr/>
            <p:nvPr/>
          </p:nvSpPr>
          <p:spPr>
            <a:xfrm>
              <a:off x="2150" y="2353"/>
              <a:ext cx="1445" cy="671"/>
            </a:xfrm>
            <a:prstGeom prst="roundRect">
              <a:avLst>
                <a:gd fmla="val 7588" name="adj"/>
              </a:avLst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76200">
              <a:solidFill>
                <a:srgbClr val="74D2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Coordinative </a:t>
              </a:r>
              <a:br>
                <a:rPr b="1" lang="en-US" sz="18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b="1" lang="en-US" sz="18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Function</a:t>
              </a:r>
              <a:br>
                <a:rPr lang="en-US" sz="18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lang="en-US" sz="16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Functional Authority</a:t>
              </a:r>
              <a:endParaRPr/>
            </a:p>
          </p:txBody>
        </p:sp>
        <p:cxnSp>
          <p:nvCxnSpPr>
            <p:cNvPr id="483" name="Google Shape;483;p11"/>
            <p:cNvCxnSpPr>
              <a:stCxn id="481" idx="4"/>
              <a:endCxn id="479" idx="0"/>
            </p:cNvCxnSpPr>
            <p:nvPr/>
          </p:nvCxnSpPr>
          <p:spPr>
            <a:xfrm rot="5400000">
              <a:off x="1822" y="1180"/>
              <a:ext cx="300" cy="1800"/>
            </a:xfrm>
            <a:prstGeom prst="bentConnector3">
              <a:avLst>
                <a:gd fmla="val -582282" name="adj1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lg" w="lg" type="stealth"/>
            </a:ln>
          </p:spPr>
        </p:cxnSp>
        <p:cxnSp>
          <p:nvCxnSpPr>
            <p:cNvPr id="484" name="Google Shape;484;p11"/>
            <p:cNvCxnSpPr>
              <a:stCxn id="481" idx="4"/>
              <a:endCxn id="480" idx="0"/>
            </p:cNvCxnSpPr>
            <p:nvPr/>
          </p:nvCxnSpPr>
          <p:spPr>
            <a:xfrm flipH="1" rot="-5400000">
              <a:off x="3622" y="1180"/>
              <a:ext cx="300" cy="1800"/>
            </a:xfrm>
            <a:prstGeom prst="bentConnector3">
              <a:avLst>
                <a:gd fmla="val -582149" name="adj1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none"/>
              <a:tailEnd len="lg" w="lg" type="stealth"/>
            </a:ln>
          </p:spPr>
        </p:cxnSp>
        <p:cxnSp>
          <p:nvCxnSpPr>
            <p:cNvPr id="485" name="Google Shape;485;p11"/>
            <p:cNvCxnSpPr>
              <a:stCxn id="481" idx="4"/>
              <a:endCxn id="482" idx="0"/>
            </p:cNvCxnSpPr>
            <p:nvPr/>
          </p:nvCxnSpPr>
          <p:spPr>
            <a:xfrm>
              <a:off x="2872" y="1930"/>
              <a:ext cx="0" cy="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lg" w="lg" type="stealth"/>
            </a:ln>
          </p:spPr>
        </p:cxnSp>
      </p:grp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2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Libre Franklin Medium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new Human Resource Manager</a:t>
            </a:r>
            <a:endParaRPr/>
          </a:p>
        </p:txBody>
      </p:sp>
      <p:sp>
        <p:nvSpPr>
          <p:cNvPr id="491" name="Google Shape;491;p1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491699" y="1845025"/>
            <a:ext cx="7148700" cy="47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Leadership &amp; Navigation </a:t>
            </a:r>
            <a:r>
              <a:rPr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ability to direct and contribute to initiatives and processes within the organization.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Ethical Practice </a:t>
            </a:r>
            <a:r>
              <a:rPr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ability to integrate core values, integrity, and accountability throughout all organizational and business practices.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Business Acumen </a:t>
            </a:r>
            <a:r>
              <a:rPr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ability to understand and apply information with which to contribute to the Organization’s strategic plan.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Relationship Management </a:t>
            </a:r>
            <a:r>
              <a:rPr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ability to manage interactions to provide service and to support the organization.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Consultation </a:t>
            </a:r>
            <a:r>
              <a:rPr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ability to provide guidance to organizational stakeholders. Critical Evaluation The ability to interpret information with which to make business decisions and recommendations.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Global &amp; Cultural Effectiveness </a:t>
            </a:r>
            <a:r>
              <a:rPr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ability to value and consider the perspectives and backgrounds of all parties.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Communication</a:t>
            </a:r>
            <a:r>
              <a:rPr lang="en-US"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 The ability to effectively exchange information with stakeholders.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3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Trends in the Nature of Work</a:t>
            </a:r>
            <a:endParaRPr/>
          </a:p>
        </p:txBody>
      </p:sp>
      <p:sp>
        <p:nvSpPr>
          <p:cNvPr id="501" name="Google Shape;501;p1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1–</a:t>
            </a: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grpSp>
        <p:nvGrpSpPr>
          <p:cNvPr id="502" name="Google Shape;502;p13"/>
          <p:cNvGrpSpPr/>
          <p:nvPr/>
        </p:nvGrpSpPr>
        <p:grpSpPr>
          <a:xfrm>
            <a:off x="639764" y="1965325"/>
            <a:ext cx="6583968" cy="2835275"/>
            <a:chOff x="634" y="1238"/>
            <a:chExt cx="4492" cy="1786"/>
          </a:xfrm>
        </p:grpSpPr>
        <p:sp>
          <p:nvSpPr>
            <p:cNvPr descr="brownfill01" id="503" name="Google Shape;503;p13"/>
            <p:cNvSpPr/>
            <p:nvPr/>
          </p:nvSpPr>
          <p:spPr>
            <a:xfrm>
              <a:off x="634" y="2390"/>
              <a:ext cx="1326" cy="634"/>
            </a:xfrm>
            <a:prstGeom prst="roundRect">
              <a:avLst>
                <a:gd fmla="val 8361" name="adj"/>
              </a:avLst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EB9F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High-Tech </a:t>
              </a:r>
              <a:br>
                <a:rPr lang="en-US" sz="20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lang="en-US" sz="20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Jobs</a:t>
              </a:r>
              <a:endParaRPr/>
            </a:p>
          </p:txBody>
        </p:sp>
        <p:sp>
          <p:nvSpPr>
            <p:cNvPr descr="greenfill01" id="504" name="Google Shape;504;p13"/>
            <p:cNvSpPr/>
            <p:nvPr/>
          </p:nvSpPr>
          <p:spPr>
            <a:xfrm>
              <a:off x="2218" y="2389"/>
              <a:ext cx="1326" cy="632"/>
            </a:xfrm>
            <a:prstGeom prst="roundRect">
              <a:avLst>
                <a:gd fmla="val 7120" name="adj"/>
              </a:avLst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65CD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Service </a:t>
              </a:r>
              <a:br>
                <a:rPr lang="en-US" sz="20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</a:br>
              <a:r>
                <a:rPr lang="en-US" sz="20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Jobs</a:t>
              </a:r>
              <a:endParaRPr/>
            </a:p>
          </p:txBody>
        </p:sp>
        <p:cxnSp>
          <p:nvCxnSpPr>
            <p:cNvPr id="505" name="Google Shape;505;p13"/>
            <p:cNvCxnSpPr>
              <a:stCxn id="506" idx="2"/>
              <a:endCxn id="503" idx="0"/>
            </p:cNvCxnSpPr>
            <p:nvPr/>
          </p:nvCxnSpPr>
          <p:spPr>
            <a:xfrm rot="5400000">
              <a:off x="1830" y="1386"/>
              <a:ext cx="600" cy="1500"/>
            </a:xfrm>
            <a:prstGeom prst="bentConnector3">
              <a:avLst>
                <a:gd fmla="val -357562" name="adj1"/>
              </a:avLst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med" w="med" type="none"/>
              <a:tailEnd len="lg" w="lg" type="stealth"/>
            </a:ln>
          </p:spPr>
        </p:cxnSp>
        <p:sp>
          <p:nvSpPr>
            <p:cNvPr id="506" name="Google Shape;506;p13"/>
            <p:cNvSpPr/>
            <p:nvPr/>
          </p:nvSpPr>
          <p:spPr>
            <a:xfrm>
              <a:off x="1786" y="1238"/>
              <a:ext cx="2188" cy="598"/>
            </a:xfrm>
            <a:prstGeom prst="roundRect">
              <a:avLst>
                <a:gd fmla="val 12259" name="adj"/>
              </a:avLst>
            </a:prstGeom>
            <a:gradFill>
              <a:gsLst>
                <a:gs pos="0">
                  <a:srgbClr val="EAD596"/>
                </a:gs>
                <a:gs pos="100000">
                  <a:srgbClr val="CC9900"/>
                </a:gs>
              </a:gsLst>
              <a:lin ang="5400000" scaled="0"/>
            </a:gradFill>
            <a:ln cap="flat" cmpd="sng" w="57150">
              <a:solidFill>
                <a:srgbClr val="CC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Changes in How We Work</a:t>
              </a:r>
              <a:endParaRPr/>
            </a:p>
          </p:txBody>
        </p:sp>
        <p:cxnSp>
          <p:nvCxnSpPr>
            <p:cNvPr id="507" name="Google Shape;507;p13"/>
            <p:cNvCxnSpPr>
              <a:stCxn id="506" idx="2"/>
              <a:endCxn id="504" idx="0"/>
            </p:cNvCxnSpPr>
            <p:nvPr/>
          </p:nvCxnSpPr>
          <p:spPr>
            <a:xfrm rot="5400000">
              <a:off x="2580" y="2136"/>
              <a:ext cx="600" cy="0"/>
            </a:xfrm>
            <a:prstGeom prst="bentConnector3">
              <a:avLst>
                <a:gd fmla="val -358350" name="adj1"/>
              </a:avLst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med" w="med" type="none"/>
              <a:tailEnd len="lg" w="lg" type="stealth"/>
            </a:ln>
          </p:spPr>
        </p:cxnSp>
        <p:sp>
          <p:nvSpPr>
            <p:cNvPr descr="bluefill01" id="508" name="Google Shape;508;p13"/>
            <p:cNvSpPr/>
            <p:nvPr/>
          </p:nvSpPr>
          <p:spPr>
            <a:xfrm>
              <a:off x="3800" y="2390"/>
              <a:ext cx="1326" cy="632"/>
            </a:xfrm>
            <a:prstGeom prst="roundRect">
              <a:avLst>
                <a:gd fmla="val 7120" name="adj"/>
              </a:avLst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57150">
              <a:solidFill>
                <a:srgbClr val="7DC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Knowledge Work and Human Capital</a:t>
              </a:r>
              <a:endParaRPr/>
            </a:p>
          </p:txBody>
        </p:sp>
        <p:cxnSp>
          <p:nvCxnSpPr>
            <p:cNvPr id="509" name="Google Shape;509;p13"/>
            <p:cNvCxnSpPr>
              <a:stCxn id="506" idx="2"/>
              <a:endCxn id="508" idx="0"/>
            </p:cNvCxnSpPr>
            <p:nvPr/>
          </p:nvCxnSpPr>
          <p:spPr>
            <a:xfrm flipH="1" rot="-5400000">
              <a:off x="3330" y="1386"/>
              <a:ext cx="600" cy="1500"/>
            </a:xfrm>
            <a:prstGeom prst="bentConnector3">
              <a:avLst>
                <a:gd fmla="val -357562" name="adj1"/>
              </a:avLst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med" w="med" type="none"/>
              <a:tailEnd len="lg" w="lg" type="stealth"/>
            </a:ln>
          </p:spPr>
        </p:cxnSp>
      </p:grp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uman Resource Management 12e">
  <a:themeElements>
    <a:clrScheme name="Human Resource Management 12e 2">
      <a:dk1>
        <a:srgbClr val="000000"/>
      </a:dk1>
      <a:lt1>
        <a:srgbClr val="FFFFFF"/>
      </a:lt1>
      <a:dk2>
        <a:srgbClr val="003300"/>
      </a:dk2>
      <a:lt2>
        <a:srgbClr val="5F5F5F"/>
      </a:lt2>
      <a:accent1>
        <a:srgbClr val="0099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B98A00"/>
      </a:accent6>
      <a:hlink>
        <a:srgbClr val="FF3300"/>
      </a:hlink>
      <a:folHlink>
        <a:srgbClr val="66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2003-02-17T02:06:55Z</dcterms:created>
  <dc:creator>Charlie Cook, The University of West Alabama</dc:creator>
</cp:coreProperties>
</file>